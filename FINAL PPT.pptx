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>
        <p:scale>
          <a:sx n="75" d="100"/>
          <a:sy n="75" d="100"/>
        </p:scale>
        <p:origin x="878" y="216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9/9/2026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9/9/2026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anvi24-ux/Seasonal-Agriculture-Performance-Analysis.git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anvi24-ux/Seasonal-Agriculture-Performance-Analysis.git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162" y="3902988"/>
            <a:ext cx="9866021" cy="86149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Student Name: JANVI AGARWAL</a:t>
            </a:r>
            <a:endParaRPr lang="en-IN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College Name- AMBALIKA INSTITUTE OF MANAGEMENT AND TECHNOLOGY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662" y="2589152"/>
            <a:ext cx="10991474" cy="743448"/>
          </a:xfrm>
        </p:spPr>
        <p:txBody>
          <a:bodyPr>
            <a:normAutofit fontScale="90000"/>
          </a:bodyPr>
          <a:lstStyle/>
          <a:p>
            <a:r>
              <a:rPr lang="en-GB" sz="3200" b="1" dirty="0"/>
              <a:t>Project Title - </a:t>
            </a:r>
            <a:r>
              <a:rPr lang="en-US" sz="3200" b="1" dirty="0"/>
              <a:t>Seasonal Agriculture Performance Analysis </a:t>
            </a:r>
            <a:endParaRPr lang="en-IN" sz="3200" b="1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567662" y="4771340"/>
            <a:ext cx="58331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STU6a1fda8963b731780472457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08464E-E1A1-F991-7576-A9ED801E2631}"/>
              </a:ext>
            </a:extLst>
          </p:cNvPr>
          <p:cNvSpPr txBox="1"/>
          <p:nvPr/>
        </p:nvSpPr>
        <p:spPr>
          <a:xfrm>
            <a:off x="675957" y="3195663"/>
            <a:ext cx="10416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Subtitle: </a:t>
            </a:r>
            <a:r>
              <a:rPr lang="en-US" dirty="0"/>
              <a:t>Analyzing Seasonal Patterns in Crop Yield, Resources, Environment and Economic Performance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4793" y="1340528"/>
            <a:ext cx="8094689" cy="4967055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>
              <a:buNone/>
            </a:pPr>
            <a:r>
              <a:rPr lang="en-US" sz="2800" dirty="0">
                <a:solidFill>
                  <a:schemeClr val="tx1"/>
                </a:solidFill>
              </a:rPr>
              <a:t>Agricultural performance varies across different seasons due to changes in environmental conditions, resource usage, crop selection and economic factors.</a:t>
            </a:r>
          </a:p>
          <a:p>
            <a:pPr marL="0" indent="0">
              <a:buNone/>
            </a:pPr>
            <a:r>
              <a:rPr lang="en-US" sz="2800" i="1" dirty="0">
                <a:solidFill>
                  <a:schemeClr val="tx1"/>
                </a:solidFill>
              </a:rPr>
              <a:t>The project aims to analyze agricultural data across seasons to: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Compare crop yield and production across seasons 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Study the effect of rainfall, temperature, humidity and soil conditions 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Analyze fertilizer, pesticide and water usage 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Compare revenue, cost and profit 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Identify seasonal patterns, variations and unusual observations 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chemeClr val="tx1"/>
                </a:solidFill>
              </a:rPr>
              <a:t>Generate useful insights and recommendations for better agricultural planning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86080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359" y="193040"/>
            <a:ext cx="6276109" cy="830997"/>
          </a:xfrm>
        </p:spPr>
        <p:txBody>
          <a:bodyPr>
            <a:normAutofit/>
          </a:bodyPr>
          <a:lstStyle/>
          <a:p>
            <a:r>
              <a:rPr lang="en-GB" dirty="0"/>
              <a:t>Project Description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5272410-0D69-ADE5-8996-EEF406989EB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4693" y="1340528"/>
            <a:ext cx="8994099" cy="496705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Seasonal Agriculture Performance Analysis</a:t>
            </a:r>
            <a:r>
              <a:rPr lang="en-US" sz="1600" dirty="0">
                <a:solidFill>
                  <a:schemeClr val="tx1"/>
                </a:solidFill>
              </a:rPr>
              <a:t> is a data analytics project based on agricultural records from different farms, crops, states and seasons.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The dataset contains </a:t>
            </a:r>
            <a:r>
              <a:rPr lang="en-US" sz="1600" b="1" dirty="0">
                <a:solidFill>
                  <a:schemeClr val="tx1"/>
                </a:solidFill>
                <a:highlight>
                  <a:srgbClr val="FFFF00"/>
                </a:highlight>
              </a:rPr>
              <a:t>4,000 records and 28 attributes</a:t>
            </a:r>
            <a:r>
              <a:rPr lang="en-US" sz="1600" dirty="0">
                <a:solidFill>
                  <a:schemeClr val="tx1"/>
                </a:solidFill>
                <a:highlight>
                  <a:srgbClr val="FFFF00"/>
                </a:highlight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covering:</a:t>
            </a:r>
          </a:p>
          <a:p>
            <a:pPr lvl="0"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tx1"/>
                </a:solidFill>
              </a:rPr>
              <a:t>Farm and geographical information </a:t>
            </a:r>
          </a:p>
          <a:p>
            <a:pPr lvl="0"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tx1"/>
                </a:solidFill>
              </a:rPr>
              <a:t>Crop and seasonal information </a:t>
            </a:r>
          </a:p>
          <a:p>
            <a:pPr lvl="0"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tx1"/>
                </a:solidFill>
              </a:rPr>
              <a:t>Rainfall, temperature and humidity </a:t>
            </a:r>
          </a:p>
          <a:p>
            <a:pPr lvl="0"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tx1"/>
                </a:solidFill>
              </a:rPr>
              <a:t>Soil conditions and moisture </a:t>
            </a:r>
          </a:p>
          <a:p>
            <a:pPr lvl="0"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tx1"/>
                </a:solidFill>
              </a:rPr>
              <a:t>Fertilizer, pesticide and nutrient usage </a:t>
            </a:r>
          </a:p>
          <a:p>
            <a:pPr lvl="0"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tx1"/>
                </a:solidFill>
              </a:rPr>
              <a:t>Crop yield and total production </a:t>
            </a:r>
          </a:p>
          <a:p>
            <a:pPr lvl="0"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tx1"/>
                </a:solidFill>
              </a:rPr>
              <a:t>Market price, cost, revenue and profit </a:t>
            </a:r>
          </a:p>
          <a:p>
            <a:pPr lvl="0"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tx1"/>
                </a:solidFill>
              </a:rPr>
              <a:t>Water usage and water efficiency </a:t>
            </a:r>
          </a:p>
          <a:p>
            <a:pPr lvl="0">
              <a:buClr>
                <a:srgbClr val="002060"/>
              </a:buClr>
              <a:buFont typeface="Wingdings" panose="05000000000000000000" pitchFamily="2" charset="2"/>
              <a:buChar char="q"/>
            </a:pPr>
            <a:r>
              <a:rPr lang="en-US" sz="1600" dirty="0">
                <a:solidFill>
                  <a:schemeClr val="tx1"/>
                </a:solidFill>
              </a:rPr>
              <a:t>Disease and pest risk 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The data was cleaned and analyzed using </a:t>
            </a:r>
            <a:r>
              <a:rPr lang="en-US" sz="1600" b="1" dirty="0">
                <a:solidFill>
                  <a:schemeClr val="tx1"/>
                </a:solidFill>
              </a:rPr>
              <a:t>Python and Jupyter Notebook</a:t>
            </a:r>
            <a:r>
              <a:rPr lang="en-US" sz="1600" dirty="0">
                <a:solidFill>
                  <a:schemeClr val="tx1"/>
                </a:solidFill>
              </a:rPr>
              <a:t>. Statistical analysis and visualizations were used to identify relationships and differences between seasons.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2618" y="802565"/>
            <a:ext cx="9117881" cy="59518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u="sng" dirty="0">
                <a:solidFill>
                  <a:schemeClr val="tx1"/>
                </a:solidFill>
              </a:rPr>
              <a:t>Users</a:t>
            </a:r>
            <a:endParaRPr lang="en-US" sz="1400" b="1" u="sng" dirty="0">
              <a:solidFill>
                <a:schemeClr val="tx1"/>
              </a:solidFill>
            </a:endParaRPr>
          </a:p>
          <a:p>
            <a:pPr lvl="0">
              <a:buClr>
                <a:schemeClr val="accent4">
                  <a:lumMod val="5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tx1"/>
                </a:solidFill>
              </a:rPr>
              <a:t>Farmers and agricultural planners </a:t>
            </a:r>
          </a:p>
          <a:p>
            <a:pPr lvl="0">
              <a:buClr>
                <a:schemeClr val="accent4">
                  <a:lumMod val="5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tx1"/>
                </a:solidFill>
              </a:rPr>
              <a:t>Agricultural researchers </a:t>
            </a:r>
          </a:p>
          <a:p>
            <a:pPr lvl="0">
              <a:buClr>
                <a:schemeClr val="accent4">
                  <a:lumMod val="5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tx1"/>
                </a:solidFill>
              </a:rPr>
              <a:t>Data analysts </a:t>
            </a:r>
          </a:p>
          <a:p>
            <a:pPr lvl="0">
              <a:buClr>
                <a:schemeClr val="accent4">
                  <a:lumMod val="5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tx1"/>
                </a:solidFill>
              </a:rPr>
              <a:t>Agricultural management organizations </a:t>
            </a:r>
          </a:p>
          <a:p>
            <a:pPr lvl="0">
              <a:buClr>
                <a:schemeClr val="accent4">
                  <a:lumMod val="5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tx1"/>
                </a:solidFill>
              </a:rPr>
              <a:t>Students and academic researchers </a:t>
            </a:r>
          </a:p>
          <a:p>
            <a:pPr lvl="0">
              <a:buClr>
                <a:schemeClr val="accent4">
                  <a:lumMod val="5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tx1"/>
                </a:solidFill>
              </a:rPr>
              <a:t>Decision-makers in agricultural planning </a:t>
            </a:r>
          </a:p>
          <a:p>
            <a:pPr marL="0" indent="0">
              <a:buNone/>
            </a:pPr>
            <a:r>
              <a:rPr lang="en-US" sz="2400" b="1" u="sng" dirty="0">
                <a:solidFill>
                  <a:schemeClr val="tx1"/>
                </a:solidFill>
              </a:rPr>
              <a:t>Uses</a:t>
            </a:r>
          </a:p>
          <a:p>
            <a:pPr>
              <a:buClr>
                <a:schemeClr val="accent4">
                  <a:lumMod val="5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tx1"/>
                </a:solidFill>
              </a:rPr>
              <a:t>Identify high-performing seasons </a:t>
            </a:r>
          </a:p>
          <a:p>
            <a:pPr>
              <a:buClr>
                <a:schemeClr val="accent4">
                  <a:lumMod val="5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tx1"/>
                </a:solidFill>
              </a:rPr>
              <a:t>Compare crop yield and production </a:t>
            </a:r>
          </a:p>
          <a:p>
            <a:pPr>
              <a:buClr>
                <a:schemeClr val="accent4">
                  <a:lumMod val="5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tx1"/>
                </a:solidFill>
              </a:rPr>
              <a:t>Understand environmental patterns </a:t>
            </a:r>
          </a:p>
          <a:p>
            <a:pPr>
              <a:buClr>
                <a:schemeClr val="accent4">
                  <a:lumMod val="5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tx1"/>
                </a:solidFill>
              </a:rPr>
              <a:t>Monitor resource consumption </a:t>
            </a:r>
          </a:p>
          <a:p>
            <a:pPr>
              <a:buClr>
                <a:schemeClr val="accent4">
                  <a:lumMod val="5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tx1"/>
                </a:solidFill>
              </a:rPr>
              <a:t>Analyze water efficiency </a:t>
            </a:r>
          </a:p>
          <a:p>
            <a:pPr>
              <a:buClr>
                <a:schemeClr val="accent4">
                  <a:lumMod val="5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tx1"/>
                </a:solidFill>
              </a:rPr>
              <a:t>Compare seasonal profitability </a:t>
            </a:r>
          </a:p>
          <a:p>
            <a:pPr>
              <a:buClr>
                <a:schemeClr val="accent4">
                  <a:lumMod val="5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tx1"/>
                </a:solidFill>
              </a:rPr>
              <a:t>Identify disease/pest risk patterns </a:t>
            </a:r>
          </a:p>
          <a:p>
            <a:pPr>
              <a:buClr>
                <a:schemeClr val="accent4">
                  <a:lumMod val="50000"/>
                </a:schemeClr>
              </a:buClr>
              <a:buFont typeface="Wingdings" panose="05000000000000000000" pitchFamily="2" charset="2"/>
              <a:buChar char="ü"/>
            </a:pPr>
            <a:r>
              <a:rPr lang="en-US" sz="1400" dirty="0">
                <a:solidFill>
                  <a:schemeClr val="tx1"/>
                </a:solidFill>
              </a:rPr>
              <a:t>Support data-driven agricultural decisions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140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618" y="103619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09940" y="847817"/>
            <a:ext cx="4815840" cy="57358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b="1" u="sng" dirty="0">
                <a:solidFill>
                  <a:schemeClr val="tx1"/>
                </a:solidFill>
              </a:rPr>
              <a:t>Programming Language:</a:t>
            </a:r>
          </a:p>
          <a:p>
            <a:pPr>
              <a:buClr>
                <a:srgbClr val="002060"/>
              </a:buClr>
              <a:buSzPct val="84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/>
                </a:solidFill>
              </a:rPr>
              <a:t>Python</a:t>
            </a:r>
            <a:endParaRPr lang="en-US" sz="18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sz="1800" b="1" u="sng" dirty="0">
                <a:solidFill>
                  <a:schemeClr val="tx1"/>
                </a:solidFill>
              </a:rPr>
              <a:t>Tools &amp; Libraries:</a:t>
            </a:r>
          </a:p>
          <a:p>
            <a:pPr lvl="0">
              <a:buClr>
                <a:srgbClr val="002060"/>
              </a:buClr>
              <a:buSzPct val="84000"/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tx1"/>
                </a:solidFill>
              </a:rPr>
              <a:t>Jupyter Notebook </a:t>
            </a:r>
            <a:r>
              <a:rPr lang="en-US" sz="1600" dirty="0">
                <a:solidFill>
                  <a:schemeClr val="tx1"/>
                </a:solidFill>
              </a:rPr>
              <a:t>— Data analysis and documentation </a:t>
            </a:r>
          </a:p>
          <a:p>
            <a:pPr lvl="0">
              <a:buClr>
                <a:srgbClr val="002060"/>
              </a:buClr>
              <a:buSzPct val="84000"/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tx1"/>
                </a:solidFill>
              </a:rPr>
              <a:t>Pandas</a:t>
            </a:r>
            <a:r>
              <a:rPr lang="en-US" sz="1600" dirty="0">
                <a:solidFill>
                  <a:schemeClr val="tx1"/>
                </a:solidFill>
              </a:rPr>
              <a:t> — Data manipulation and analysis </a:t>
            </a:r>
          </a:p>
          <a:p>
            <a:pPr lvl="0">
              <a:buClr>
                <a:srgbClr val="002060"/>
              </a:buClr>
              <a:buSzPct val="84000"/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tx1"/>
                </a:solidFill>
              </a:rPr>
              <a:t>NumPy </a:t>
            </a:r>
            <a:r>
              <a:rPr lang="en-US" sz="1600" dirty="0">
                <a:solidFill>
                  <a:schemeClr val="tx1"/>
                </a:solidFill>
              </a:rPr>
              <a:t>— Numerical operations </a:t>
            </a:r>
          </a:p>
          <a:p>
            <a:pPr lvl="0">
              <a:buClr>
                <a:srgbClr val="002060"/>
              </a:buClr>
              <a:buSzPct val="84000"/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tx1"/>
                </a:solidFill>
              </a:rPr>
              <a:t>Matplotlib</a:t>
            </a:r>
            <a:r>
              <a:rPr lang="en-US" sz="1600" dirty="0">
                <a:solidFill>
                  <a:schemeClr val="tx1"/>
                </a:solidFill>
              </a:rPr>
              <a:t> — Data visualization </a:t>
            </a:r>
          </a:p>
          <a:p>
            <a:pPr lvl="0">
              <a:buClr>
                <a:srgbClr val="002060"/>
              </a:buClr>
              <a:buSzPct val="84000"/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tx1"/>
                </a:solidFill>
              </a:rPr>
              <a:t>Seaborn</a:t>
            </a:r>
            <a:r>
              <a:rPr lang="en-US" sz="1600" dirty="0">
                <a:solidFill>
                  <a:schemeClr val="tx1"/>
                </a:solidFill>
              </a:rPr>
              <a:t> — Statistical visualizations </a:t>
            </a:r>
          </a:p>
          <a:p>
            <a:pPr lvl="0">
              <a:buClr>
                <a:srgbClr val="002060"/>
              </a:buClr>
              <a:buSzPct val="84000"/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chemeClr val="tx1"/>
                </a:solidFill>
              </a:rPr>
              <a:t>SciPy</a:t>
            </a:r>
            <a:r>
              <a:rPr lang="en-US" sz="1600" dirty="0">
                <a:solidFill>
                  <a:schemeClr val="tx1"/>
                </a:solidFill>
              </a:rPr>
              <a:t> — Statistical an</a:t>
            </a:r>
            <a:r>
              <a:rPr lang="en-US" sz="1800" dirty="0">
                <a:solidFill>
                  <a:schemeClr val="tx1"/>
                </a:solidFill>
              </a:rPr>
              <a:t>alysis 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IN" sz="600" b="1" dirty="0">
              <a:solidFill>
                <a:schemeClr val="tx1"/>
              </a:solidFill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959" y="0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840A8060-537B-66EB-F503-5082742D2A3C}"/>
              </a:ext>
            </a:extLst>
          </p:cNvPr>
          <p:cNvSpPr txBox="1">
            <a:spLocks/>
          </p:cNvSpPr>
          <p:nvPr/>
        </p:nvSpPr>
        <p:spPr>
          <a:xfrm>
            <a:off x="5852158" y="423908"/>
            <a:ext cx="6339842" cy="643409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u="sng" dirty="0">
                <a:solidFill>
                  <a:schemeClr val="tx1"/>
                </a:solidFill>
              </a:rPr>
              <a:t>Other</a:t>
            </a:r>
            <a:r>
              <a:rPr lang="en-US" sz="1600" b="1" u="sng" dirty="0"/>
              <a:t> Tools:</a:t>
            </a:r>
            <a:endParaRPr lang="en-US" sz="1600" u="sng" dirty="0"/>
          </a:p>
          <a:p>
            <a:pPr>
              <a:buClr>
                <a:srgbClr val="002060"/>
              </a:buClr>
              <a:buSzPct val="84000"/>
              <a:buFont typeface="Wingdings" panose="05000000000000000000" pitchFamily="2" charset="2"/>
              <a:buChar char="Ø"/>
            </a:pPr>
            <a:r>
              <a:rPr lang="en-US" sz="1400" b="1" dirty="0">
                <a:solidFill>
                  <a:schemeClr val="tx1"/>
                </a:solidFill>
              </a:rPr>
              <a:t>VS Code — </a:t>
            </a:r>
            <a:r>
              <a:rPr lang="en-US" sz="1400" dirty="0">
                <a:solidFill>
                  <a:schemeClr val="tx1"/>
                </a:solidFill>
              </a:rPr>
              <a:t>Project development </a:t>
            </a:r>
          </a:p>
          <a:p>
            <a:pPr>
              <a:buClr>
                <a:srgbClr val="002060"/>
              </a:buClr>
              <a:buSzPct val="84000"/>
              <a:buFont typeface="Wingdings" panose="05000000000000000000" pitchFamily="2" charset="2"/>
              <a:buChar char="Ø"/>
            </a:pPr>
            <a:r>
              <a:rPr lang="en-US" sz="1400" b="1" dirty="0">
                <a:solidFill>
                  <a:schemeClr val="tx1"/>
                </a:solidFill>
              </a:rPr>
              <a:t>Git — </a:t>
            </a:r>
            <a:r>
              <a:rPr lang="en-US" sz="1400" dirty="0">
                <a:solidFill>
                  <a:schemeClr val="tx1"/>
                </a:solidFill>
              </a:rPr>
              <a:t>Version control </a:t>
            </a:r>
          </a:p>
          <a:p>
            <a:pPr>
              <a:buClr>
                <a:srgbClr val="002060"/>
              </a:buClr>
              <a:buSzPct val="84000"/>
              <a:buFont typeface="Wingdings" panose="05000000000000000000" pitchFamily="2" charset="2"/>
              <a:buChar char="Ø"/>
            </a:pPr>
            <a:r>
              <a:rPr lang="en-US" sz="1400" b="1" dirty="0">
                <a:solidFill>
                  <a:schemeClr val="tx1"/>
                </a:solidFill>
              </a:rPr>
              <a:t>GitHub — </a:t>
            </a:r>
            <a:r>
              <a:rPr lang="en-US" sz="1400" dirty="0">
                <a:solidFill>
                  <a:schemeClr val="tx1"/>
                </a:solidFill>
              </a:rPr>
              <a:t>Project hosting and submission </a:t>
            </a:r>
          </a:p>
          <a:p>
            <a:pPr marL="0" indent="0">
              <a:buNone/>
            </a:pPr>
            <a:r>
              <a:rPr lang="en-US" sz="1600" b="1" u="sng" dirty="0">
                <a:solidFill>
                  <a:schemeClr val="tx1"/>
                </a:solidFill>
              </a:rPr>
              <a:t>Techniques</a:t>
            </a:r>
            <a:r>
              <a:rPr lang="en-US" sz="1600" b="1" u="sng" dirty="0"/>
              <a:t> Used:</a:t>
            </a:r>
            <a:endParaRPr lang="en-US" sz="1600" u="sng" dirty="0"/>
          </a:p>
          <a:p>
            <a:pPr>
              <a:buClr>
                <a:srgbClr val="002060"/>
              </a:buClr>
              <a:buSzPct val="84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tx1"/>
                </a:solidFill>
              </a:rPr>
              <a:t>Data cleaning </a:t>
            </a:r>
          </a:p>
          <a:p>
            <a:pPr>
              <a:buClr>
                <a:srgbClr val="002060"/>
              </a:buClr>
              <a:buSzPct val="84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tx1"/>
                </a:solidFill>
              </a:rPr>
              <a:t>Exploratory Data Analysis (EDA) </a:t>
            </a:r>
          </a:p>
          <a:p>
            <a:pPr>
              <a:buClr>
                <a:srgbClr val="002060"/>
              </a:buClr>
              <a:buSzPct val="84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tx1"/>
                </a:solidFill>
              </a:rPr>
              <a:t>Group-by analysis </a:t>
            </a:r>
          </a:p>
          <a:p>
            <a:pPr>
              <a:buClr>
                <a:srgbClr val="002060"/>
              </a:buClr>
              <a:buSzPct val="84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tx1"/>
                </a:solidFill>
              </a:rPr>
              <a:t>Correlation analysis </a:t>
            </a:r>
          </a:p>
          <a:p>
            <a:pPr>
              <a:buClr>
                <a:srgbClr val="002060"/>
              </a:buClr>
              <a:buSzPct val="84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tx1"/>
                </a:solidFill>
              </a:rPr>
              <a:t>Heatmaps </a:t>
            </a:r>
          </a:p>
          <a:p>
            <a:pPr>
              <a:buClr>
                <a:srgbClr val="002060"/>
              </a:buClr>
              <a:buSzPct val="84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tx1"/>
                </a:solidFill>
              </a:rPr>
              <a:t>Box plots </a:t>
            </a:r>
          </a:p>
          <a:p>
            <a:pPr>
              <a:buClr>
                <a:srgbClr val="002060"/>
              </a:buClr>
              <a:buSzPct val="84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tx1"/>
                </a:solidFill>
              </a:rPr>
              <a:t>Scatter plots </a:t>
            </a:r>
          </a:p>
          <a:p>
            <a:pPr>
              <a:buClr>
                <a:srgbClr val="002060"/>
              </a:buClr>
              <a:buSzPct val="84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tx1"/>
                </a:solidFill>
              </a:rPr>
              <a:t>ANOVA statistical test </a:t>
            </a:r>
          </a:p>
          <a:p>
            <a:pPr>
              <a:buClr>
                <a:srgbClr val="002060"/>
              </a:buClr>
              <a:buSzPct val="84000"/>
              <a:buFont typeface="Wingdings" panose="05000000000000000000" pitchFamily="2" charset="2"/>
              <a:buChar char="Ø"/>
            </a:pPr>
            <a:r>
              <a:rPr lang="en-US" sz="1400" dirty="0">
                <a:solidFill>
                  <a:schemeClr val="tx1"/>
                </a:solidFill>
              </a:rPr>
              <a:t>Outlier analysis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6FAEB44-574D-719B-6657-BD50CBA92C77}"/>
              </a:ext>
            </a:extLst>
          </p:cNvPr>
          <p:cNvCxnSpPr>
            <a:cxnSpLocks/>
          </p:cNvCxnSpPr>
          <p:nvPr/>
        </p:nvCxnSpPr>
        <p:spPr>
          <a:xfrm>
            <a:off x="5325780" y="1145894"/>
            <a:ext cx="0" cy="4179278"/>
          </a:xfrm>
          <a:prstGeom prst="line">
            <a:avLst/>
          </a:prstGeom>
          <a:ln w="38100">
            <a:solidFill>
              <a:schemeClr val="tx1"/>
            </a:solidFill>
            <a:prstDash val="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9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57105" y="43784"/>
            <a:ext cx="2981643" cy="830997"/>
          </a:xfrm>
        </p:spPr>
        <p:txBody>
          <a:bodyPr>
            <a:normAutofit/>
          </a:bodyPr>
          <a:lstStyle/>
          <a:p>
            <a:pPr algn="ctr"/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73536DA-87E4-79D3-97C9-06BF29935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836" y="1170745"/>
            <a:ext cx="4672091" cy="2803255"/>
          </a:xfrm>
          <a:prstGeom prst="rect">
            <a:avLst/>
          </a:prstGeom>
          <a:ln w="19050">
            <a:solidFill>
              <a:srgbClr val="002060"/>
            </a:solidFill>
          </a:ln>
        </p:spPr>
      </p:pic>
      <p:sp>
        <p:nvSpPr>
          <p:cNvPr id="13" name="Text Placeholder 1">
            <a:extLst>
              <a:ext uri="{FF2B5EF4-FFF2-40B4-BE49-F238E27FC236}">
                <a16:creationId xmlns:a16="http://schemas.microsoft.com/office/drawing/2014/main" id="{B794E121-D925-7D80-C5C0-3EACF46D97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30600" y="773351"/>
            <a:ext cx="4382180" cy="374243"/>
          </a:xfrm>
          <a:ln w="19050">
            <a:solidFill>
              <a:srgbClr val="002060"/>
            </a:solidFill>
          </a:ln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IN" dirty="0" err="1">
                <a:solidFill>
                  <a:schemeClr val="tx1"/>
                </a:solidFill>
              </a:rPr>
              <a:t>crop_season_yield_heatmap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496D267-58A1-7CF8-86EE-5679A4E8FA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142" y="1212744"/>
            <a:ext cx="4140463" cy="2305960"/>
          </a:xfrm>
          <a:prstGeom prst="rect">
            <a:avLst/>
          </a:prstGeom>
          <a:ln w="19050">
            <a:solidFill>
              <a:srgbClr val="002060"/>
            </a:solidFill>
          </a:ln>
        </p:spPr>
      </p:pic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16DE3CE5-7676-DCF1-C5BE-C8643F41D818}"/>
              </a:ext>
            </a:extLst>
          </p:cNvPr>
          <p:cNvSpPr txBox="1">
            <a:spLocks/>
          </p:cNvSpPr>
          <p:nvPr/>
        </p:nvSpPr>
        <p:spPr>
          <a:xfrm>
            <a:off x="6809193" y="792312"/>
            <a:ext cx="3816371" cy="422363"/>
          </a:xfrm>
          <a:prstGeom prst="rect">
            <a:avLst/>
          </a:prstGeom>
          <a:ln w="19050">
            <a:solidFill>
              <a:srgbClr val="00206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 err="1">
                <a:solidFill>
                  <a:schemeClr val="tx1"/>
                </a:solidFill>
              </a:rPr>
              <a:t>disease_pest_risk_by_season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7" name="Text Placeholder 1">
            <a:extLst>
              <a:ext uri="{FF2B5EF4-FFF2-40B4-BE49-F238E27FC236}">
                <a16:creationId xmlns:a16="http://schemas.microsoft.com/office/drawing/2014/main" id="{5DACA77E-C06D-E09A-131D-C276E247C240}"/>
              </a:ext>
            </a:extLst>
          </p:cNvPr>
          <p:cNvSpPr txBox="1">
            <a:spLocks/>
          </p:cNvSpPr>
          <p:nvPr/>
        </p:nvSpPr>
        <p:spPr>
          <a:xfrm>
            <a:off x="1347177" y="4147624"/>
            <a:ext cx="3048107" cy="422363"/>
          </a:xfrm>
          <a:prstGeom prst="rect">
            <a:avLst/>
          </a:prstGeom>
          <a:ln w="19050">
            <a:solidFill>
              <a:srgbClr val="00206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dirty="0" err="1">
                <a:solidFill>
                  <a:schemeClr val="tx1"/>
                </a:solidFill>
              </a:rPr>
              <a:t>production_by_season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8" name="Text Placeholder 1">
            <a:extLst>
              <a:ext uri="{FF2B5EF4-FFF2-40B4-BE49-F238E27FC236}">
                <a16:creationId xmlns:a16="http://schemas.microsoft.com/office/drawing/2014/main" id="{17917EB2-5A78-AD7B-EE21-B29B0157786A}"/>
              </a:ext>
            </a:extLst>
          </p:cNvPr>
          <p:cNvSpPr txBox="1">
            <a:spLocks/>
          </p:cNvSpPr>
          <p:nvPr/>
        </p:nvSpPr>
        <p:spPr>
          <a:xfrm>
            <a:off x="7496430" y="3690536"/>
            <a:ext cx="3048107" cy="422363"/>
          </a:xfrm>
          <a:prstGeom prst="rect">
            <a:avLst/>
          </a:prstGeom>
          <a:ln w="19050">
            <a:solidFill>
              <a:srgbClr val="00206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dirty="0" err="1">
                <a:solidFill>
                  <a:schemeClr val="tx1"/>
                </a:solidFill>
              </a:rPr>
              <a:t>rainfall_vs_yield</a:t>
            </a: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104C2C32-2B58-76E8-1FF1-EAD8AF3F40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2623" y="4593764"/>
            <a:ext cx="3492823" cy="2183015"/>
          </a:xfrm>
          <a:prstGeom prst="rect">
            <a:avLst/>
          </a:prstGeom>
          <a:ln w="19050">
            <a:solidFill>
              <a:srgbClr val="002060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0A341BA0-6DFD-9491-12C1-B482153D64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5800" y="4094076"/>
            <a:ext cx="4455164" cy="2784477"/>
          </a:xfrm>
          <a:prstGeom prst="rect">
            <a:avLst/>
          </a:prstGeom>
          <a:ln w="19050"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3" grpId="0" build="p"/>
      <p:bldP spid="16" grpId="0" build="p"/>
      <p:bldP spid="17" grpId="0" build="p"/>
      <p:bldP spid="18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8578" y="23980"/>
            <a:ext cx="2902811" cy="845484"/>
          </a:xfrm>
        </p:spPr>
        <p:txBody>
          <a:bodyPr>
            <a:normAutofit/>
          </a:bodyPr>
          <a:lstStyle/>
          <a:p>
            <a:r>
              <a:rPr lang="en-GB" sz="4400" dirty="0"/>
              <a:t>RESULTS </a:t>
            </a:r>
            <a:endParaRPr lang="en-IN" sz="4400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9235" y="761712"/>
            <a:ext cx="4275138" cy="477520"/>
          </a:xfrm>
          <a:ln w="19050">
            <a:solidFill>
              <a:srgbClr val="002060"/>
            </a:solidFill>
          </a:ln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IN" sz="2400" dirty="0" err="1">
                <a:solidFill>
                  <a:schemeClr val="tx1"/>
                </a:solidFill>
              </a:rPr>
              <a:t>correlation_heatmap</a:t>
            </a:r>
            <a:endParaRPr lang="en-IN" sz="2400" dirty="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BDB90-D3E6-711C-9DDB-FDCAB9480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66" y="1221633"/>
            <a:ext cx="5596953" cy="4197714"/>
          </a:xfrm>
          <a:prstGeom prst="rect">
            <a:avLst/>
          </a:prstGeom>
          <a:ln w="19050">
            <a:solidFill>
              <a:srgbClr val="002060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0950C74-8D07-3EC3-2DFF-6EC173F6E1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1151" y="726987"/>
            <a:ext cx="4580202" cy="3018086"/>
          </a:xfrm>
          <a:prstGeom prst="rect">
            <a:avLst/>
          </a:prstGeom>
          <a:ln w="19050">
            <a:solidFill>
              <a:srgbClr val="002060"/>
            </a:solidFill>
          </a:ln>
        </p:spPr>
      </p:pic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5F44F555-124C-D340-27FC-84E67E7CF79C}"/>
              </a:ext>
            </a:extLst>
          </p:cNvPr>
          <p:cNvSpPr txBox="1">
            <a:spLocks/>
          </p:cNvSpPr>
          <p:nvPr/>
        </p:nvSpPr>
        <p:spPr>
          <a:xfrm>
            <a:off x="6813493" y="289330"/>
            <a:ext cx="4188117" cy="419531"/>
          </a:xfrm>
          <a:prstGeom prst="rect">
            <a:avLst/>
          </a:prstGeom>
          <a:ln w="19050">
            <a:solidFill>
              <a:srgbClr val="00206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dirty="0" err="1">
                <a:solidFill>
                  <a:schemeClr val="tx1"/>
                </a:solidFill>
              </a:rPr>
              <a:t>state_season_yield_heatmap</a:t>
            </a:r>
            <a:endParaRPr lang="en-IN" sz="2400" dirty="0">
              <a:solidFill>
                <a:schemeClr val="tx1"/>
              </a:solidFill>
            </a:endParaRPr>
          </a:p>
        </p:txBody>
      </p:sp>
      <p:sp>
        <p:nvSpPr>
          <p:cNvPr id="16" name="Text Placeholder 1">
            <a:extLst>
              <a:ext uri="{FF2B5EF4-FFF2-40B4-BE49-F238E27FC236}">
                <a16:creationId xmlns:a16="http://schemas.microsoft.com/office/drawing/2014/main" id="{A636EA62-4F27-42F2-2A7D-D629E55F9238}"/>
              </a:ext>
            </a:extLst>
          </p:cNvPr>
          <p:cNvSpPr txBox="1">
            <a:spLocks/>
          </p:cNvSpPr>
          <p:nvPr/>
        </p:nvSpPr>
        <p:spPr>
          <a:xfrm>
            <a:off x="1731435" y="5857528"/>
            <a:ext cx="4275138" cy="477520"/>
          </a:xfrm>
          <a:prstGeom prst="rect">
            <a:avLst/>
          </a:prstGeom>
          <a:ln w="19050">
            <a:solidFill>
              <a:srgbClr val="00206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ct val="80000"/>
              <a:buFont typeface="Wingdings" panose="05000000000000000000" pitchFamily="2" charset="2"/>
              <a:buChar char="§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sz="2400" dirty="0" err="1">
                <a:solidFill>
                  <a:schemeClr val="tx1"/>
                </a:solidFill>
              </a:rPr>
              <a:t>temperature_by_season</a:t>
            </a:r>
            <a:r>
              <a:rPr lang="en-IN" sz="2400" dirty="0">
                <a:solidFill>
                  <a:schemeClr val="tx1"/>
                </a:solidFill>
              </a:rPr>
              <a:t>  </a:t>
            </a:r>
            <a:r>
              <a:rPr lang="en-IN" sz="2400" dirty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endParaRPr lang="en-IN" sz="2400" dirty="0">
              <a:solidFill>
                <a:schemeClr val="tx1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21F8FBB-9BB2-4AF3-BDCC-473715BC30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5428" y="3920470"/>
            <a:ext cx="4710888" cy="2944305"/>
          </a:xfrm>
          <a:prstGeom prst="rect">
            <a:avLst/>
          </a:prstGeom>
          <a:ln w="19050"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  <p:bldP spid="11" grpId="0" build="p"/>
      <p:bldP spid="1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5765" y="-60727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B4E4B88-432B-A870-8387-B1AE0C73E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57" y="723194"/>
            <a:ext cx="4130228" cy="371626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72B0658-71CF-ADEE-FBE1-29A8C83880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8078" y="723194"/>
            <a:ext cx="3507760" cy="366100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374FDD6-CF44-A405-00A2-1628364B72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977" y="4527501"/>
            <a:ext cx="3078430" cy="228510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886C83A-3F32-34DF-280F-66785CE471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2826" y="548800"/>
            <a:ext cx="3079077" cy="366100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C0433C6-3416-7BDB-A50B-D03DEFC24D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25961" y="4527501"/>
            <a:ext cx="3411447" cy="228096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D61662B-8346-3173-8E02-55ED9796F3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82153" y="4461306"/>
            <a:ext cx="3733890" cy="234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0432" y="46661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4FD2AB-7F5E-8853-BFFA-56D6B6026D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6781" y="682367"/>
            <a:ext cx="4877383" cy="30252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0F81D99-1AC3-12E9-15E9-0D5D6F872B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778" y="728667"/>
            <a:ext cx="5138187" cy="2746633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D9A1FCD-2C2C-5610-A886-81C8E21BFB49}"/>
              </a:ext>
            </a:extLst>
          </p:cNvPr>
          <p:cNvCxnSpPr>
            <a:cxnSpLocks/>
          </p:cNvCxnSpPr>
          <p:nvPr/>
        </p:nvCxnSpPr>
        <p:spPr>
          <a:xfrm>
            <a:off x="5833641" y="2361235"/>
            <a:ext cx="439837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75E8CA25-460C-8357-90A1-431FFA02A7A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811"/>
          <a:stretch>
            <a:fillRect/>
          </a:stretch>
        </p:blipFill>
        <p:spPr>
          <a:xfrm>
            <a:off x="7418048" y="3832789"/>
            <a:ext cx="3422834" cy="3025211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EDBA59A-1149-C66C-CDEE-3502D05F74B8}"/>
              </a:ext>
            </a:extLst>
          </p:cNvPr>
          <p:cNvCxnSpPr>
            <a:cxnSpLocks/>
          </p:cNvCxnSpPr>
          <p:nvPr/>
        </p:nvCxnSpPr>
        <p:spPr>
          <a:xfrm flipH="1">
            <a:off x="6673282" y="5310740"/>
            <a:ext cx="450072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E8B7E91E-8AB0-75A8-C6D3-D075125E054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473" t="1997" r="2695" b="68120"/>
          <a:stretch>
            <a:fillRect/>
          </a:stretch>
        </p:blipFill>
        <p:spPr>
          <a:xfrm>
            <a:off x="150503" y="3642031"/>
            <a:ext cx="3044816" cy="151684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E923195-882B-1E8C-C412-9C92B7A692A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462" t="35539" r="2810" b="34462"/>
          <a:stretch>
            <a:fillRect/>
          </a:stretch>
        </p:blipFill>
        <p:spPr>
          <a:xfrm>
            <a:off x="3399274" y="3642030"/>
            <a:ext cx="2965644" cy="148475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3C1BBC5-E970-39CA-1CFF-B03BDF85935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10" t="68998" r="2462"/>
          <a:stretch>
            <a:fillRect/>
          </a:stretch>
        </p:blipFill>
        <p:spPr>
          <a:xfrm>
            <a:off x="280042" y="5272264"/>
            <a:ext cx="2889877" cy="149512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7A0A087F-7F65-DEC9-CBD0-68C1CC16C2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7058" y="5252108"/>
            <a:ext cx="3040768" cy="150113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4028" y="-46104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60E3BF-E6FA-E57A-1E7A-8BBC49B54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660" y="750168"/>
            <a:ext cx="4656132" cy="28557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FD485F-A2E4-6EA8-AA82-AB923896F53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6495"/>
          <a:stretch>
            <a:fillRect/>
          </a:stretch>
        </p:blipFill>
        <p:spPr>
          <a:xfrm>
            <a:off x="5000262" y="761743"/>
            <a:ext cx="3622877" cy="28557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D7641DE-4C9D-D417-EC2C-3737C70E0FB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62" r="16106"/>
          <a:stretch>
            <a:fillRect/>
          </a:stretch>
        </p:blipFill>
        <p:spPr>
          <a:xfrm>
            <a:off x="193661" y="3668843"/>
            <a:ext cx="4092804" cy="299611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755849A-EDE6-FE7E-BE89-043EFEAC2D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2054" y="703867"/>
            <a:ext cx="3278765" cy="297776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257A8B8-2984-E82C-DF3C-640F84D200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7733" y="3789256"/>
            <a:ext cx="3406435" cy="153937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037F665-399C-76A4-EFB2-25FFFDE0E3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55437" y="3953826"/>
            <a:ext cx="4155283" cy="220030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BE3988B-10AF-D48B-C458-5F4F75BCAF0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74511" y="5453721"/>
            <a:ext cx="3449658" cy="121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120332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70D198-75D6-9BC2-3F93-4A4F25AB2908}"/>
              </a:ext>
            </a:extLst>
          </p:cNvPr>
          <p:cNvSpPr txBox="1"/>
          <p:nvPr/>
        </p:nvSpPr>
        <p:spPr>
          <a:xfrm>
            <a:off x="559425" y="1105357"/>
            <a:ext cx="1054400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400" dirty="0"/>
              <a:t>Develop a </a:t>
            </a:r>
            <a:r>
              <a:rPr lang="en-US" sz="2400" b="1" dirty="0"/>
              <a:t>real-time agricultural monitoring system</a:t>
            </a:r>
            <a:r>
              <a:rPr lang="en-US" sz="2400" dirty="0"/>
              <a:t> using live weather and environmental data. </a:t>
            </a:r>
          </a:p>
          <a:p>
            <a:pPr marL="342900" lvl="0" indent="-342900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400" dirty="0"/>
              <a:t>Apply </a:t>
            </a:r>
            <a:r>
              <a:rPr lang="en-US" sz="2400" b="1" dirty="0"/>
              <a:t>machine learning models</a:t>
            </a:r>
            <a:r>
              <a:rPr lang="en-US" sz="2400" dirty="0"/>
              <a:t> to predict crop yield and seasonal performance. </a:t>
            </a:r>
          </a:p>
          <a:p>
            <a:pPr marL="342900" lvl="0" indent="-342900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400" dirty="0"/>
              <a:t>Integrate </a:t>
            </a:r>
            <a:r>
              <a:rPr lang="en-US" sz="2400" b="1" dirty="0"/>
              <a:t>weather forecasting</a:t>
            </a:r>
            <a:r>
              <a:rPr lang="en-US" sz="2400" dirty="0"/>
              <a:t> to support better seasonal planning. </a:t>
            </a:r>
          </a:p>
          <a:p>
            <a:pPr marL="342900" lvl="0" indent="-342900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400" dirty="0"/>
              <a:t>Develop </a:t>
            </a:r>
            <a:r>
              <a:rPr lang="en-US" sz="2400" b="1" dirty="0"/>
              <a:t>crop-specific recommendations</a:t>
            </a:r>
            <a:r>
              <a:rPr lang="en-US" sz="2400" dirty="0"/>
              <a:t> for fertilizer, irrigation and resource usage. </a:t>
            </a:r>
          </a:p>
          <a:p>
            <a:pPr marL="342900" lvl="0" indent="-342900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400" dirty="0"/>
              <a:t>Use </a:t>
            </a:r>
            <a:r>
              <a:rPr lang="en-US" sz="2400" b="1" dirty="0"/>
              <a:t>IoT sensors</a:t>
            </a:r>
            <a:r>
              <a:rPr lang="en-US" sz="2400" dirty="0"/>
              <a:t> to monitor soil moisture, temperature and other field conditions. </a:t>
            </a:r>
          </a:p>
          <a:p>
            <a:pPr marL="342900" lvl="0" indent="-342900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400" dirty="0"/>
              <a:t>Build an interactive </a:t>
            </a:r>
            <a:r>
              <a:rPr lang="en-US" sz="2400" b="1" dirty="0"/>
              <a:t>web/mobile dashboard</a:t>
            </a:r>
            <a:r>
              <a:rPr lang="en-US" sz="2400" dirty="0"/>
              <a:t> for farmers and agricultural planners. </a:t>
            </a:r>
          </a:p>
          <a:p>
            <a:pPr marL="342900" lvl="0" indent="-342900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400" dirty="0"/>
              <a:t>Extend the analysis with larger datasets from multiple years to identify </a:t>
            </a:r>
            <a:r>
              <a:rPr lang="en-US" sz="2400" b="1" dirty="0"/>
              <a:t>long-term seasonal trends</a:t>
            </a:r>
            <a:r>
              <a:rPr lang="en-US" sz="2400" dirty="0"/>
              <a:t>. </a:t>
            </a:r>
          </a:p>
          <a:p>
            <a:pPr marL="342900" lvl="0" indent="-342900">
              <a:buClr>
                <a:srgbClr val="002060"/>
              </a:buClr>
              <a:buFont typeface="Wingdings" panose="05000000000000000000" pitchFamily="2" charset="2"/>
              <a:buChar char="Ø"/>
            </a:pPr>
            <a:r>
              <a:rPr lang="en-US" sz="2400" dirty="0"/>
              <a:t>Develop an </a:t>
            </a:r>
            <a:r>
              <a:rPr lang="en-US" sz="2400" b="1" dirty="0"/>
              <a:t>early-warning system</a:t>
            </a:r>
            <a:r>
              <a:rPr lang="en-US" sz="2400" dirty="0"/>
              <a:t> for disease and pest risks. </a:t>
            </a:r>
          </a:p>
          <a:p>
            <a:pPr marL="342900" indent="-342900">
              <a:buClr>
                <a:srgbClr val="002060"/>
              </a:buClr>
              <a:buFont typeface="Wingdings" panose="05000000000000000000" pitchFamily="2" charset="2"/>
              <a:buChar char="Ø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0B37E4-66B1-8633-7266-68B321742757}"/>
              </a:ext>
            </a:extLst>
          </p:cNvPr>
          <p:cNvSpPr txBox="1"/>
          <p:nvPr/>
        </p:nvSpPr>
        <p:spPr>
          <a:xfrm>
            <a:off x="729257" y="1440320"/>
            <a:ext cx="66469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https://github.com/Janvi24-ux/Seasonal-Agriculture-Performance-Analysis.git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12A190-55DE-7569-50F1-4B40CA8669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18"/>
          <a:stretch>
            <a:fillRect/>
          </a:stretch>
        </p:blipFill>
        <p:spPr>
          <a:xfrm>
            <a:off x="1123149" y="1414758"/>
            <a:ext cx="7457004" cy="5250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34398" y="1830493"/>
            <a:ext cx="8638219" cy="4158748"/>
          </a:xfrm>
        </p:spPr>
        <p:txBody>
          <a:bodyPr>
            <a:normAutofit/>
          </a:bodyPr>
          <a:lstStyle/>
          <a:p>
            <a:pPr algn="l"/>
            <a:r>
              <a:rPr lang="en-US" sz="2800" dirty="0">
                <a:solidFill>
                  <a:schemeClr val="tx1"/>
                </a:solidFill>
              </a:rPr>
              <a:t>THANK YOU!!</a:t>
            </a:r>
          </a:p>
          <a:p>
            <a:pPr algn="l"/>
            <a:r>
              <a:rPr lang="en-US" sz="2800" dirty="0">
                <a:solidFill>
                  <a:schemeClr val="tx1"/>
                </a:solidFill>
              </a:rPr>
              <a:t>Seasonal Agriculture Performance Analysis</a:t>
            </a:r>
          </a:p>
          <a:p>
            <a:pPr algn="l"/>
            <a:r>
              <a:rPr lang="en-US" sz="2800" i="1" u="sng" dirty="0">
                <a:solidFill>
                  <a:schemeClr val="tx1"/>
                </a:solidFill>
              </a:rPr>
              <a:t>Presented by:</a:t>
            </a:r>
            <a:br>
              <a:rPr lang="en-US" sz="2800" i="1" dirty="0">
                <a:solidFill>
                  <a:schemeClr val="tx1"/>
                </a:solidFill>
              </a:rPr>
            </a:br>
            <a:r>
              <a:rPr lang="en-US" sz="2800" i="1" dirty="0">
                <a:solidFill>
                  <a:schemeClr val="tx1"/>
                </a:solidFill>
              </a:rPr>
              <a:t>Janvi Agarwal</a:t>
            </a:r>
            <a:br>
              <a:rPr lang="en-US" sz="2800" i="1" dirty="0">
                <a:solidFill>
                  <a:schemeClr val="tx1"/>
                </a:solidFill>
              </a:rPr>
            </a:br>
            <a:r>
              <a:rPr lang="en-US" sz="2800" i="1" dirty="0">
                <a:solidFill>
                  <a:schemeClr val="tx1"/>
                </a:solidFill>
              </a:rPr>
              <a:t>CSE – Data Science</a:t>
            </a:r>
          </a:p>
          <a:p>
            <a:pPr algn="l"/>
            <a:r>
              <a:rPr lang="en-US" sz="2800" u="sng" dirty="0">
                <a:solidFill>
                  <a:schemeClr val="tx1"/>
                </a:solidFill>
              </a:rPr>
              <a:t>GitHub Repository: </a:t>
            </a:r>
            <a:r>
              <a:rPr lang="en-US" sz="2800" dirty="0">
                <a:solidFill>
                  <a:schemeClr val="tx1"/>
                </a:solidFill>
                <a:hlinkClick r:id="rId3"/>
              </a:rPr>
              <a:t>https://github.com/Janvi24-ux/Seasonal-Agriculture-Performance-Analysis.git</a:t>
            </a:r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800" dirty="0">
                <a:solidFill>
                  <a:schemeClr val="tx1"/>
                </a:solidFill>
              </a:rPr>
              <a:t>Seasonal Agriculture Performance Analysis</a:t>
            </a:r>
          </a:p>
          <a:p>
            <a:pPr algn="l"/>
            <a:endParaRPr lang="en-IN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1556</TotalTime>
  <Words>580</Words>
  <Application>Microsoft Office PowerPoint</Application>
  <PresentationFormat>Widescreen</PresentationFormat>
  <Paragraphs>100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</vt:lpstr>
      <vt:lpstr>Project Title - Seasonal Agriculture Performance Analysis </vt:lpstr>
      <vt:lpstr>PROBLEM  STATEMENT</vt:lpstr>
      <vt:lpstr>Project Description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Janvi Agarwal</cp:lastModifiedBy>
  <cp:revision>100</cp:revision>
  <dcterms:created xsi:type="dcterms:W3CDTF">2021-07-11T13:13:15Z</dcterms:created>
  <dcterms:modified xsi:type="dcterms:W3CDTF">2026-09-09T17:09:55Z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